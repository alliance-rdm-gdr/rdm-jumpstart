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rcid.org/" TargetMode="External"/><Relationship Id="rId3" Type="http://schemas.openxmlformats.org/officeDocument/2006/relationships/hyperlink" Target="https://subjectguides.uwaterloo.ca/orcid" TargetMode="External"/><Relationship Id="rId4" Type="http://schemas.openxmlformats.org/officeDocument/2006/relationships/hyperlink" Target="https://creativecommons.org/choose/"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0f6f1d0f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0f6f1d0f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0f6f1d0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0f6f1d0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641d39b5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641d39b5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641d39b5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641d39b5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675d2c4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675d2c4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675d2c4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675d2c4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675d2c4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675d2c4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
                <a:solidFill>
                  <a:schemeClr val="dk1"/>
                </a:solidFill>
              </a:rPr>
              <a:t>README file: </a:t>
            </a:r>
            <a:r>
              <a:rPr lang="en">
                <a:solidFill>
                  <a:schemeClr val="dk1"/>
                </a:solidFill>
              </a:rPr>
              <a:t>A plain text file that contains detailed information about datasets or code. It is designed to help users understand what is required to use and interpret the files.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Data dictionary: </a:t>
            </a:r>
            <a:r>
              <a:rPr lang="en">
                <a:solidFill>
                  <a:schemeClr val="dk1"/>
                </a:solidFill>
              </a:rPr>
              <a:t>A machine-readable document that contains detailed information about the technical structure of a dataset, in addition to its contents.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Codebook: </a:t>
            </a:r>
            <a:r>
              <a:rPr lang="en">
                <a:solidFill>
                  <a:schemeClr val="dk1"/>
                </a:solidFill>
              </a:rPr>
              <a:t>A human-readable document that describes a dataset and includes details about its contents and design.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Code file / script:</a:t>
            </a:r>
            <a:r>
              <a:rPr lang="en">
                <a:solidFill>
                  <a:schemeClr val="dk1"/>
                </a:solidFill>
              </a:rPr>
              <a:t> A document that contains the computer code or scripts used to clean, interpret, or manipulate a dataset. This document should include the dependencies required to execute your code, as well as comments that describe what the code does.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Standard operating procedures (SOPs): </a:t>
            </a:r>
            <a:r>
              <a:rPr lang="en">
                <a:solidFill>
                  <a:schemeClr val="dk1"/>
                </a:solidFill>
              </a:rPr>
              <a:t>These are documents that describe lab or research group procedures. They include detailed instructions to track routine operations, processes, and practices.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 purpose of this course, we’re going to focus on the README file, noting that your discipline may require different or additional forms of documentation.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675d2c4d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675d2c4d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675d2c4d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675d2c4d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675d2c4d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675d2c4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675d2c4d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675d2c4d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Title: This could be for the dataset or a project title.</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Contact/author information: Information about the researcher(s) on a project detailing their role(s) and basic contact information. Tip: Include </a:t>
            </a:r>
            <a:r>
              <a:rPr lang="en" u="sng">
                <a:solidFill>
                  <a:srgbClr val="1155CC"/>
                </a:solidFill>
                <a:hlinkClick r:id="rId2">
                  <a:extLst>
                    <a:ext uri="{A12FA001-AC4F-418D-AE19-62706E023703}">
                      <ahyp:hlinkClr val="tx"/>
                    </a:ext>
                  </a:extLst>
                </a:hlinkClick>
              </a:rPr>
              <a:t>ORCID numbers</a:t>
            </a:r>
            <a:r>
              <a:rPr lang="en">
                <a:solidFill>
                  <a:schemeClr val="dk1"/>
                </a:solidFill>
              </a:rPr>
              <a:t> when possible (learn more about the </a:t>
            </a:r>
            <a:r>
              <a:rPr lang="en" u="sng">
                <a:solidFill>
                  <a:srgbClr val="1155CC"/>
                </a:solidFill>
                <a:hlinkClick r:id="rId3">
                  <a:extLst>
                    <a:ext uri="{A12FA001-AC4F-418D-AE19-62706E023703}">
                      <ahyp:hlinkClr val="tx"/>
                    </a:ext>
                  </a:extLst>
                </a:hlinkClick>
              </a:rPr>
              <a:t>benefits of ORCIDs</a:t>
            </a:r>
            <a:r>
              <a:rPr lang="en">
                <a:solidFill>
                  <a:schemeClr val="dk1"/>
                </a:solidFill>
              </a:rPr>
              <a:t>).</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Description/summary: Brief description of what the README documents and supports.</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Software: Include software names and version numbers, with the associated file extensions.</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File and folder structure: List all files and folders contained in the dataset along with a brief description. Include information about the relationship between files if applicable.</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Naming conventions: Include description for any abbreviations used in your filenames.</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Description of variables [if applicable]: Include full names and definitions of column headings for tabular data and spell out abbreviated words. </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Methods: Include a cleaning and analysis script if applicable.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Data cleaning, analysis, manipulation, modifications, anonymization process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Data collection, protocols, sampling, instrument specifics </a:t>
            </a:r>
            <a:endParaRPr>
              <a:solidFill>
                <a:schemeClr val="dk1"/>
              </a:solidFill>
            </a:endParaRPr>
          </a:p>
          <a:p>
            <a:pPr indent="0" lvl="0" marL="9144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Data confidentiality and permissions: Detail and restrictions about the confidentiality of the data or who can/cannot access it.</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License &amp; reuse information: A license defines what can and cannot be done with your data once made freely available. The most common data licenses are Creative Commons (CC) licenses. (</a:t>
            </a:r>
            <a:r>
              <a:rPr lang="en" u="sng">
                <a:solidFill>
                  <a:schemeClr val="dk1"/>
                </a:solidFill>
                <a:hlinkClick r:id="rId4">
                  <a:extLst>
                    <a:ext uri="{A12FA001-AC4F-418D-AE19-62706E023703}">
                      <ahyp:hlinkClr val="tx"/>
                    </a:ext>
                  </a:extLst>
                </a:hlinkClick>
              </a:rPr>
              <a:t>https://creativecommons.org/choose/</a:t>
            </a:r>
            <a:r>
              <a:rPr lang="en">
                <a:solidFill>
                  <a:schemeClr val="dk1"/>
                </a:solidFill>
              </a:rPr>
              <a:t>).</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675d2c4d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675d2c4d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914400" rtl="0" algn="l">
              <a:lnSpc>
                <a:spcPct val="115000"/>
              </a:lnSpc>
              <a:spcBef>
                <a:spcPts val="0"/>
              </a:spcBef>
              <a:spcAft>
                <a:spcPts val="0"/>
              </a:spcAft>
              <a:buClr>
                <a:schemeClr val="dk1"/>
              </a:buClr>
              <a:buSzPts val="1100"/>
              <a:buChar char="○"/>
            </a:pPr>
            <a:r>
              <a:rPr lang="en">
                <a:solidFill>
                  <a:schemeClr val="dk1"/>
                </a:solidFill>
              </a:rPr>
              <a:t>Be plain text (use either.txt or .md files).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Tip: Creating your README files in a notebook or simple text editor is a great option.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Appear at the top of a file list and be easy to find.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Tip: Use force ordering and prepend filename with an underscore (_README.txt) or three dashes (---README---.txt).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Should be updated regularly to ensure accuracy.</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Tip: Don’t forget to include a date that th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675d2c4d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675d2c4d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675d2c4d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675d2c4d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675d2c4d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675d2c4d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675d2c4d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675d2c4d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400">
                <a:solidFill>
                  <a:srgbClr val="3F4252"/>
                </a:solidFill>
              </a:rPr>
              <a:t>Data Documentation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3F4252"/>
                </a:solidFill>
              </a:rPr>
              <a:t>Session Objectives</a:t>
            </a:r>
            <a:endParaRPr/>
          </a:p>
        </p:txBody>
      </p:sp>
      <p:sp>
        <p:nvSpPr>
          <p:cNvPr id="61" name="Google Shape;61;p14"/>
          <p:cNvSpPr txBox="1"/>
          <p:nvPr>
            <p:ph idx="1" type="body"/>
          </p:nvPr>
        </p:nvSpPr>
        <p:spPr>
          <a:xfrm>
            <a:off x="311700" y="1152475"/>
            <a:ext cx="8520600" cy="36051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0"/>
              </a:spcBef>
              <a:spcAft>
                <a:spcPts val="0"/>
              </a:spcAft>
              <a:buNone/>
            </a:pPr>
            <a:r>
              <a:rPr b="1" lang="en" sz="5776">
                <a:solidFill>
                  <a:schemeClr val="dk1"/>
                </a:solidFill>
                <a:latin typeface="Nunito"/>
                <a:ea typeface="Nunito"/>
                <a:cs typeface="Nunito"/>
                <a:sym typeface="Nunito"/>
              </a:rPr>
              <a:t>By the end of this session, you’ll be able to:</a:t>
            </a:r>
            <a:endParaRPr b="1"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b="1" sz="5776">
              <a:solidFill>
                <a:schemeClr val="dk1"/>
              </a:solidFill>
              <a:latin typeface="Nunito"/>
              <a:ea typeface="Nunito"/>
              <a:cs typeface="Nunito"/>
              <a:sym typeface="Nunito"/>
            </a:endParaRPr>
          </a:p>
          <a:p>
            <a:pPr indent="-320293"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Examine metadata documentation of example projects.</a:t>
            </a:r>
            <a:endParaRPr sz="5776">
              <a:solidFill>
                <a:schemeClr val="dk1"/>
              </a:solidFill>
              <a:latin typeface="Nunito"/>
              <a:ea typeface="Nunito"/>
              <a:cs typeface="Nunito"/>
              <a:sym typeface="Nunito"/>
            </a:endParaRPr>
          </a:p>
          <a:p>
            <a:pPr indent="-320293"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Explain the purpose of documenting research projects and data.</a:t>
            </a:r>
            <a:endParaRPr sz="5776">
              <a:solidFill>
                <a:schemeClr val="dk1"/>
              </a:solidFill>
              <a:latin typeface="Nunito"/>
              <a:ea typeface="Nunito"/>
              <a:cs typeface="Nunito"/>
              <a:sym typeface="Nunito"/>
            </a:endParaRPr>
          </a:p>
          <a:p>
            <a:pPr indent="-320293"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Differentiate between project- and data-level documentation.</a:t>
            </a:r>
            <a:endParaRPr sz="5776">
              <a:solidFill>
                <a:schemeClr val="dk1"/>
              </a:solidFill>
              <a:latin typeface="Nunito"/>
              <a:ea typeface="Nunito"/>
              <a:cs typeface="Nunito"/>
              <a:sym typeface="Nunito"/>
            </a:endParaRPr>
          </a:p>
          <a:p>
            <a:pPr indent="-320293"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List the main contents of README and data dictionary files.</a:t>
            </a:r>
            <a:endParaRPr sz="5776">
              <a:solidFill>
                <a:schemeClr val="dk1"/>
              </a:solidFill>
              <a:latin typeface="Nunito"/>
              <a:ea typeface="Nunito"/>
              <a:cs typeface="Nunito"/>
              <a:sym typeface="Nunito"/>
            </a:endParaRPr>
          </a:p>
          <a:p>
            <a:pPr indent="-320293"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Explain the difference and give examples of human-readable and machine-readable metadata.</a:t>
            </a:r>
            <a:endParaRPr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b="1"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sz="5776">
              <a:solidFill>
                <a:schemeClr val="dk1"/>
              </a:solidFill>
              <a:latin typeface="Nunito"/>
              <a:ea typeface="Nunito"/>
              <a:cs typeface="Nunito"/>
              <a:sym typeface="Nunito"/>
            </a:endParaRPr>
          </a:p>
          <a:p>
            <a:pPr indent="0" lvl="0" marL="0" rtl="0" algn="l">
              <a:spcBef>
                <a:spcPts val="0"/>
              </a:spcBef>
              <a:spcAft>
                <a:spcPts val="0"/>
              </a:spcAft>
              <a:buNone/>
            </a:pPr>
            <a:r>
              <a:t/>
            </a:r>
            <a:endParaRPr sz="5276"/>
          </a:p>
          <a:p>
            <a:pPr indent="0" lvl="0" marL="9144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Have you ever gone back to a spreadsheet you’ve created and can’t determine the meaning of your variables or formulas?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you found/received data that was confusing or vague?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 name="Google Shape;67;p15"/>
          <p:cNvSpPr txBox="1"/>
          <p:nvPr>
            <p:ph idx="1" type="body"/>
          </p:nvPr>
        </p:nvSpPr>
        <p:spPr>
          <a:xfrm>
            <a:off x="265750" y="3161450"/>
            <a:ext cx="8520600" cy="9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chemeClr val="dk1"/>
                </a:solidFill>
              </a:rPr>
              <a:t>Share your answers in the chat, or raise a hand!</a:t>
            </a:r>
            <a:endParaRPr b="1" sz="20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is Data Documentation?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data documentation?</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Data documentation is exactly what it sounds like: a way to document data</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goal of data documentation is to provide descriptions about data so that it can be correctly interpreted and reused in the future</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can be both for other people, but also for your future self</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data documentation?</a:t>
            </a:r>
            <a:endParaRPr/>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Data documentation is exactly what it sounds like: a way to document data</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goal of data documentation is to provide descriptions about data so that it can be correctly navigated, interpreted, and reused in the future</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can be both for other people, but also for your future self</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Documentation</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There are various ways to document data which are determined by:</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Disciplinary norms and requirements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Standard group or lab practices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Types of data (e.g. tabular vs. qualitative data)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Internal or external purposes (working with your research group or sharing broadly)</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Documentation</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README file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Data dictionary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Codebook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Code file/script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Standard operating procedures (SOPs)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the purpose of this course, we’re going to focus on the README file</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Scenario</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sz="3145">
                <a:solidFill>
                  <a:schemeClr val="dk1"/>
                </a:solidFill>
              </a:rPr>
              <a:t>A research group that studies geology using computational methods and physical survey data is nearing the end of the academic school year and is close to the summer data-collection season. The group currently has ten graduate students (in different years of study) and two co-principal investigators. Several graduate students will be graduating and leaving the group at the end of the term and a few new grad students will be joining the team. What types of documentation should the research group make sure they have from the students before they leave to ensure that the next cohort of graduate students can be onboarded and continue the research? What details should be included in the documentation?</a:t>
            </a:r>
            <a:endParaRPr sz="3145">
              <a:solidFill>
                <a:schemeClr val="dk1"/>
              </a:solidFill>
            </a:endParaRPr>
          </a:p>
          <a:p>
            <a:pPr indent="0" lvl="0" marL="0" rtl="0" algn="l">
              <a:spcBef>
                <a:spcPts val="0"/>
              </a:spcBef>
              <a:spcAft>
                <a:spcPts val="0"/>
              </a:spcAft>
              <a:buNone/>
            </a:pPr>
            <a:r>
              <a:t/>
            </a:r>
            <a:endParaRPr sz="3145">
              <a:solidFill>
                <a:schemeClr val="dk1"/>
              </a:solidFill>
            </a:endParaRPr>
          </a:p>
          <a:p>
            <a:pPr indent="0" lvl="0" marL="0" rtl="0" algn="l">
              <a:spcBef>
                <a:spcPts val="0"/>
              </a:spcBef>
              <a:spcAft>
                <a:spcPts val="0"/>
              </a:spcAft>
              <a:buNone/>
            </a:pPr>
            <a:r>
              <a:rPr b="1" lang="en" sz="3145">
                <a:solidFill>
                  <a:schemeClr val="dk1"/>
                </a:solidFill>
              </a:rPr>
              <a:t>Share your answer in the chat, or raise a hand!</a:t>
            </a:r>
            <a:endParaRPr b="1" sz="3145">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README Files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README file?</a:t>
            </a:r>
            <a:endParaRPr/>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A plain text file that adds context to a collection of files to help ensure that they can be navigated, interpreted, and understood</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Depending on the nature of the files/project, README files may include slightly different information, but there are some standard fields that cover the basics:</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README file?</a:t>
            </a:r>
            <a:endParaRPr/>
          </a:p>
        </p:txBody>
      </p:sp>
      <p:sp>
        <p:nvSpPr>
          <p:cNvPr id="119" name="Google Shape;11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Clr>
                <a:schemeClr val="dk1"/>
              </a:buClr>
              <a:buSzPct val="100000"/>
              <a:buChar char="●"/>
            </a:pPr>
            <a:r>
              <a:rPr lang="en">
                <a:solidFill>
                  <a:schemeClr val="dk1"/>
                </a:solidFill>
              </a:rPr>
              <a:t>Title</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Contact/author</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Descritpion/summary of project</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Software</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File and folder structure</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Naming conventions</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Description of variables</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Methods</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Data confidentiality and permissions</a:t>
            </a: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License and reuse information</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create a README</a:t>
            </a:r>
            <a:endParaRPr/>
          </a:p>
        </p:txBody>
      </p:sp>
      <p:sp>
        <p:nvSpPr>
          <p:cNvPr id="125" name="Google Shape;12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README files should:</a:t>
            </a:r>
            <a:endParaRPr>
              <a:solidFill>
                <a:schemeClr val="dk1"/>
              </a:solidFill>
            </a:endParaRPr>
          </a:p>
          <a:p>
            <a:pPr indent="0" lvl="0" marL="0" rtl="0" algn="l">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Be plain text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Appear at the top of a file list and be easy to find</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Tip: Use forced order and prepend filename with an underscore (Ex: </a:t>
            </a:r>
            <a:r>
              <a:rPr b="1" lang="en">
                <a:solidFill>
                  <a:schemeClr val="dk1"/>
                </a:solidFill>
              </a:rPr>
              <a:t>_README.txt</a:t>
            </a:r>
            <a:r>
              <a:rPr lang="en">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Be updated regularly to ensure accuracy</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create a README file</a:t>
            </a:r>
            <a:endParaRPr/>
          </a:p>
        </p:txBody>
      </p:sp>
      <p:sp>
        <p:nvSpPr>
          <p:cNvPr id="131" name="Google Shape;13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README files </a:t>
            </a:r>
            <a:r>
              <a:rPr b="1" lang="en">
                <a:solidFill>
                  <a:schemeClr val="dk1"/>
                </a:solidFill>
              </a:rPr>
              <a:t>should not:</a:t>
            </a:r>
            <a:endParaRPr b="1">
              <a:solidFill>
                <a:schemeClr val="dk1"/>
              </a:solidFill>
            </a:endParaRPr>
          </a:p>
          <a:p>
            <a:pPr indent="0" lvl="0" marL="0" rtl="0" algn="l">
              <a:spcBef>
                <a:spcPts val="0"/>
              </a:spcBef>
              <a:spcAft>
                <a:spcPts val="0"/>
              </a:spcAft>
              <a:buNone/>
            </a:pPr>
            <a:r>
              <a:t/>
            </a:r>
            <a:endParaRPr b="1">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Include excessive formatting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Include irrelevant information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Include pictures or visual data</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Activity: Data Documentation </a:t>
            </a:r>
            <a:endParaRPr/>
          </a:p>
        </p:txBody>
      </p:sp>
      <p:sp>
        <p:nvSpPr>
          <p:cNvPr id="137" name="Google Shape;13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chemeClr val="dk1"/>
                </a:solidFill>
              </a:rPr>
              <a:t>To better understand how you can document your own project, it is helpful to see how other projects have documented their data. In this activity, you will look at the documentation of different datasets, and discuss some of the characteristics of the documentation as well as any positive or negative aspects that you see.</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First, choose one of the following datasets to inspect. You will have ten minutes to read through its documentation and files. Although some people in your break-our group will inspect the same dataset, make sure that each dataset is inspected by at least one person in your group.</a:t>
            </a:r>
            <a:endParaRPr sz="1500">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Find the links on the webpage </a:t>
            </a:r>
            <a:r>
              <a:rPr lang="en">
                <a:solidFill>
                  <a:schemeClr val="dk1"/>
                </a:solidFill>
                <a:highlight>
                  <a:srgbClr val="FFFF00"/>
                </a:highlight>
              </a:rPr>
              <a:t>[include link when read]</a:t>
            </a:r>
            <a:endParaRPr>
              <a:solidFill>
                <a:schemeClr val="dk1"/>
              </a:solidFill>
              <a:highlight>
                <a:srgbClr val="FFFF00"/>
              </a:highlight>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Preparing for Day 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Preparing for day 2</a:t>
            </a:r>
            <a:endParaRPr/>
          </a:p>
        </p:txBody>
      </p:sp>
      <p:sp>
        <p:nvSpPr>
          <p:cNvPr id="148" name="Google Shape;14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In the next session, we will use what we have learned so far about data documentation to create a README file for the example project of this course. To prepare for this, make sure to do the following before the start of next day:</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 Download the README file template </a:t>
            </a:r>
            <a:r>
              <a:rPr lang="en" sz="1500">
                <a:solidFill>
                  <a:schemeClr val="dk1"/>
                </a:solidFill>
                <a:highlight>
                  <a:srgbClr val="FFFF00"/>
                </a:highlight>
              </a:rPr>
              <a:t>[include link to website when ready]</a:t>
            </a:r>
            <a:endParaRPr sz="1500">
              <a:solidFill>
                <a:schemeClr val="dk1"/>
              </a:solidFill>
              <a:highlight>
                <a:srgbClr val="FFFF00"/>
              </a:highlight>
            </a:endParaRPr>
          </a:p>
          <a:p>
            <a:pPr indent="0" lvl="0" marL="0" rtl="0" algn="l">
              <a:spcBef>
                <a:spcPts val="0"/>
              </a:spcBef>
              <a:spcAft>
                <a:spcPts val="0"/>
              </a:spcAft>
              <a:buNone/>
            </a:pPr>
            <a:r>
              <a:rPr lang="en" sz="1500">
                <a:solidFill>
                  <a:schemeClr val="dk1"/>
                </a:solidFill>
              </a:rPr>
              <a:t>- Have the README template open in a text editor so it is ready for the start of the next session.</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